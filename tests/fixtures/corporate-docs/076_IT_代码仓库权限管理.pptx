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457200" y="1371600"/>
            <a:ext cx="8229600" cy="914400"/>
          </a:xfrm>
          <a:prstGeom prst="rect">
            <a:avLst/>
          </a:prstGeom>
          <a:noFill/>
          <a:ln/>
        </p:spPr>
        <p:txBody>
          <a:bodyPr wrap="square" rtlCol="0" anchor="ctr"/>
          <a:lstStyle/>
          <a:p>
            <a:pPr algn="ctr" indent="0" marL="0">
              <a:buNone/>
            </a:pPr>
            <a:r>
              <a:rPr lang="en-US" sz="3200" b="1" dirty="0">
                <a:solidFill>
                  <a:srgbClr val="000000"/>
                </a:solidFill>
              </a:rPr>
              <a:t>代码仓库权限管理</a:t>
            </a:r>
            <a:endParaRPr lang="en-US" sz="3200" dirty="0"/>
          </a:p>
        </p:txBody>
      </p:sp>
      <p:sp>
        <p:nvSpPr>
          <p:cNvPr id="3" name="Text 1"/>
          <p:cNvSpPr/>
          <p:nvPr/>
        </p:nvSpPr>
        <p:spPr>
          <a:xfrm>
            <a:off x="457200" y="2743200"/>
            <a:ext cx="8229600" cy="457200"/>
          </a:xfrm>
          <a:prstGeom prst="rect">
            <a:avLst/>
          </a:prstGeom>
          <a:noFill/>
          <a:ln/>
        </p:spPr>
        <p:txBody>
          <a:bodyPr wrap="square" rtlCol="0" anchor="ctr"/>
          <a:lstStyle/>
          <a:p>
            <a:pPr algn="ctr" indent="0" marL="0">
              <a:buNone/>
            </a:pPr>
            <a:r>
              <a:rPr lang="en-US" sz="1400" dirty="0">
                <a:solidFill>
                  <a:srgbClr val="666666"/>
                </a:solidFill>
              </a:rPr>
              <a:t>信息技术部   |   V2.5   |   2025-05-05</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400" b="1" dirty="0">
                <a:solidFill>
                  <a:srgbClr val="000000"/>
                </a:solidFill>
              </a:rPr>
              <a:t>一、目的与适用范围</a:t>
            </a:r>
            <a:endParaRPr lang="en-US" sz="2400" dirty="0"/>
          </a:p>
        </p:txBody>
      </p:sp>
      <p:sp>
        <p:nvSpPr>
          <p:cNvPr id="3" name="Text 1"/>
          <p:cNvSpPr/>
          <p:nvPr/>
        </p:nvSpPr>
        <p:spPr>
          <a:xfrm>
            <a:off x="457200" y="1280160"/>
            <a:ext cx="8229600" cy="4754880"/>
          </a:xfrm>
          <a:prstGeom prst="rect">
            <a:avLst/>
          </a:prstGeom>
          <a:noFill/>
          <a:ln/>
        </p:spPr>
        <p:txBody>
          <a:bodyPr wrap="square" rtlCol="0" anchor="t"/>
          <a:lstStyle/>
          <a:p>
            <a:pPr indent="0" marL="0">
              <a:buNone/>
            </a:pPr>
            <a:r>
              <a:rPr lang="en-US" sz="1400" dirty="0">
                <a:solidFill>
                  <a:srgbClr val="000000"/>
                </a:solidFill>
              </a:rPr>
              <a:t>为规范代码仓库权限管理相关工作，明确职责与流程，提升运营效率与合规水平，特制定本办法。本办法适用于公司全体员工及相关部门，自 2025-05-05 起施行，原有规定与本办法不一致的，以本办法为准。</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400" b="1" dirty="0">
                <a:solidFill>
                  <a:srgbClr val="000000"/>
                </a:solidFill>
              </a:rPr>
              <a:t>二、术语与定义</a:t>
            </a:r>
            <a:endParaRPr lang="en-US" sz="2400" dirty="0"/>
          </a:p>
        </p:txBody>
      </p:sp>
      <p:sp>
        <p:nvSpPr>
          <p:cNvPr id="3" name="Text 1"/>
          <p:cNvSpPr/>
          <p:nvPr/>
        </p:nvSpPr>
        <p:spPr>
          <a:xfrm>
            <a:off x="457200" y="1280160"/>
            <a:ext cx="8229600" cy="4754880"/>
          </a:xfrm>
          <a:prstGeom prst="rect">
            <a:avLst/>
          </a:prstGeom>
          <a:noFill/>
          <a:ln/>
        </p:spPr>
        <p:txBody>
          <a:bodyPr wrap="square" rtlCol="0" anchor="t"/>
          <a:lstStyle/>
          <a:p>
            <a:pPr indent="0" marL="0">
              <a:buNone/>
            </a:pPr>
            <a:r>
              <a:rPr lang="en-US" sz="1400" dirty="0">
                <a:solidFill>
                  <a:srgbClr val="000000"/>
                </a:solidFill>
              </a:rPr>
              <a:t>本办法所称"代码仓库权限管理"，是指公司内部依据本制度开展的申请、审批、执行、归档等全流程活动的统称。所称"申请人"为发起相关流程的公司员工；"审批人"为依据权限表对申请进行审核的主管或部门负责人；"归口管理部门"为信息技术部。</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400" b="1" dirty="0">
                <a:solidFill>
                  <a:srgbClr val="000000"/>
                </a:solidFill>
              </a:rPr>
              <a:t>三、职责分工</a:t>
            </a:r>
            <a:endParaRPr lang="en-US" sz="2400" dirty="0"/>
          </a:p>
        </p:txBody>
      </p:sp>
      <p:sp>
        <p:nvSpPr>
          <p:cNvPr id="3" name="Text 1"/>
          <p:cNvSpPr/>
          <p:nvPr/>
        </p:nvSpPr>
        <p:spPr>
          <a:xfrm>
            <a:off x="457200" y="1280160"/>
            <a:ext cx="8229600" cy="4754880"/>
          </a:xfrm>
          <a:prstGeom prst="rect">
            <a:avLst/>
          </a:prstGeom>
          <a:noFill/>
          <a:ln/>
        </p:spPr>
        <p:txBody>
          <a:bodyPr wrap="square" rtlCol="0" anchor="t"/>
          <a:lstStyle/>
          <a:p>
            <a:pPr indent="0" marL="0">
              <a:buNone/>
            </a:pPr>
            <a:r>
              <a:rPr lang="en-US" sz="1400" dirty="0">
                <a:solidFill>
                  <a:srgbClr val="000000"/>
                </a:solidFill>
              </a:rPr>
              <a:t>信息技术部为代码仓库权限管理的归口管理部门，负责政策制定、流程优化与日常答疑；各业务部门负责人负责本部门内的执行与监督检查；财务部、法务合规部在涉及资金、合规事项时承担审核与监督职责。涉及跨部门协作的，由信息技术部牵头组织联席会议协商解决。</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400" b="1" dirty="0">
                <a:solidFill>
                  <a:srgbClr val="000000"/>
                </a:solidFill>
              </a:rPr>
              <a:t>四、申请条件与材料</a:t>
            </a:r>
            <a:endParaRPr lang="en-US" sz="2400" dirty="0"/>
          </a:p>
        </p:txBody>
      </p:sp>
      <p:sp>
        <p:nvSpPr>
          <p:cNvPr id="3" name="Text 1"/>
          <p:cNvSpPr/>
          <p:nvPr/>
        </p:nvSpPr>
        <p:spPr>
          <a:xfrm>
            <a:off x="457200" y="1280160"/>
            <a:ext cx="8229600" cy="4754880"/>
          </a:xfrm>
          <a:prstGeom prst="rect">
            <a:avLst/>
          </a:prstGeom>
          <a:noFill/>
          <a:ln/>
        </p:spPr>
        <p:txBody>
          <a:bodyPr wrap="square" rtlCol="0" anchor="t"/>
          <a:lstStyle/>
          <a:p>
            <a:pPr indent="0" marL="0">
              <a:buNone/>
            </a:pPr>
            <a:r>
              <a:rPr lang="en-US" sz="1400" dirty="0">
                <a:solidFill>
                  <a:srgbClr val="000000"/>
                </a:solidFill>
              </a:rPr>
              <a:t>申请人须为公司正式在职员工，且在提交申请时满足以下条件：(1) 已完成入职培训并通过合规考核；(2) 申请事项真实、合理、符合本制度第七条所列情形；(3) 所需材料齐全，包括但不限于申请书、相关凭证、说明说明文件。申请材料须真实有效，不得伪造、变造。</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400" b="1" dirty="0">
                <a:solidFill>
                  <a:srgbClr val="000000"/>
                </a:solidFill>
              </a:rPr>
              <a:t>五、审批权限与流程</a:t>
            </a:r>
            <a:endParaRPr lang="en-US" sz="2400" dirty="0"/>
          </a:p>
        </p:txBody>
      </p:sp>
      <p:sp>
        <p:nvSpPr>
          <p:cNvPr id="3" name="Text 1"/>
          <p:cNvSpPr/>
          <p:nvPr/>
        </p:nvSpPr>
        <p:spPr>
          <a:xfrm>
            <a:off x="457200" y="1280160"/>
            <a:ext cx="8229600" cy="4754880"/>
          </a:xfrm>
          <a:prstGeom prst="rect">
            <a:avLst/>
          </a:prstGeom>
          <a:noFill/>
          <a:ln/>
        </p:spPr>
        <p:txBody>
          <a:bodyPr wrap="square" rtlCol="0" anchor="t"/>
          <a:lstStyle/>
          <a:p>
            <a:pPr indent="0" marL="0">
              <a:buNone/>
            </a:pPr>
            <a:r>
              <a:rPr lang="en-US" sz="1400" dirty="0">
                <a:solidFill>
                  <a:srgbClr val="000000"/>
                </a:solidFill>
              </a:rPr>
              <a:t>相关申请应在公司内部 OA 系统中提交，按权限逐级审批。具体权限与 SLA 如下：</a:t>
            </a:r>
            <a:endParaRPr lang="en-US" sz="1400" dirty="0"/>
          </a:p>
          <a:p>
            <a:pPr indent="0" marL="0">
              <a:buNone/>
            </a:pPr>
            <a:endParaRPr lang="en-US" sz="1400" dirty="0"/>
          </a:p>
          <a:p>
            <a:pPr indent="0" marL="0">
              <a:buNone/>
            </a:pPr>
            <a:r>
              <a:rPr lang="en-US" sz="1400" dirty="0">
                <a:solidFill>
                  <a:srgbClr val="000000"/>
                </a:solidFill>
              </a:rPr>
              <a:t>| 申请金额 | 审批人 | SLA（工作日） |</a:t>
            </a:r>
            <a:endParaRPr lang="en-US" sz="1400" dirty="0"/>
          </a:p>
          <a:p>
            <a:pPr indent="0" marL="0">
              <a:buNone/>
            </a:pPr>
            <a:r>
              <a:rPr lang="en-US" sz="1400" dirty="0">
                <a:solidFill>
                  <a:srgbClr val="000000"/>
                </a:solidFill>
              </a:rPr>
              <a:t>|---|---|---|</a:t>
            </a:r>
            <a:endParaRPr lang="en-US" sz="1400" dirty="0"/>
          </a:p>
          <a:p>
            <a:pPr indent="0" marL="0">
              <a:buNone/>
            </a:pPr>
            <a:r>
              <a:rPr lang="en-US" sz="1400" dirty="0">
                <a:solidFill>
                  <a:srgbClr val="000000"/>
                </a:solidFill>
              </a:rPr>
              <a:t>| ≤ 25000 元 | 部门负责人 | 1 |</a:t>
            </a:r>
            <a:endParaRPr lang="en-US" sz="1400" dirty="0"/>
          </a:p>
          <a:p>
            <a:pPr indent="0" marL="0">
              <a:buNone/>
            </a:pPr>
            <a:r>
              <a:rPr lang="en-US" sz="1400" dirty="0">
                <a:solidFill>
                  <a:srgbClr val="000000"/>
                </a:solidFill>
              </a:rPr>
              <a:t>| 25001 ~ 50000 元 | 部门负责人 + 信息技术部主管 | 2 |</a:t>
            </a:r>
            <a:endParaRPr lang="en-US" sz="1400" dirty="0"/>
          </a:p>
          <a:p>
            <a:pPr indent="0" marL="0">
              <a:buNone/>
            </a:pPr>
            <a:r>
              <a:rPr lang="en-US" sz="1400" dirty="0">
                <a:solidFill>
                  <a:srgbClr val="000000"/>
                </a:solidFill>
              </a:rPr>
              <a:t>| &gt; 50000 元 | 部门负责人 + 信息技术部主管 + 法务合规 | 3 |</a:t>
            </a:r>
            <a:endParaRPr lang="en-US" sz="1400" dirty="0"/>
          </a:p>
          <a:p>
            <a:pPr indent="0" marL="0">
              <a:buNone/>
            </a:pPr>
            <a:r>
              <a:rPr lang="en-US" sz="1400" dirty="0">
                <a:solidFill>
                  <a:srgbClr val="000000"/>
                </a:solidFill>
              </a:rPr>
              <a:t>| 紧急申请（口头/邮件） | 直接主管 + 信息技术部 | 1 + 9 日内补办 |</a:t>
            </a:r>
            <a:endParaRPr lang="en-US" sz="1400" dirty="0"/>
          </a:p>
          <a:p>
            <a:pPr indent="0" marL="0">
              <a:buNone/>
            </a:pPr>
            <a:endParaRPr lang="en-US" sz="1400" dirty="0"/>
          </a:p>
          <a:p>
            <a:pPr indent="0" marL="0">
              <a:buNone/>
            </a:pPr>
            <a:r>
              <a:rPr lang="en-US" sz="1400" dirty="0">
                <a:solidFill>
                  <a:srgbClr val="000000"/>
                </a:solidFill>
              </a:rPr>
              <a:t>审批通过后由信息技术部备案。紧急事项可先口头或邮件申请，并于 3 个工作日内补办系统流程；超期未补办视为放弃申请，已发生的费用由申请人自行承担。</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400" b="1" dirty="0">
                <a:solidFill>
                  <a:srgbClr val="000000"/>
                </a:solidFill>
              </a:rPr>
              <a:t>六、执行与归档</a:t>
            </a:r>
            <a:endParaRPr lang="en-US" sz="2400" dirty="0"/>
          </a:p>
        </p:txBody>
      </p:sp>
      <p:sp>
        <p:nvSpPr>
          <p:cNvPr id="3" name="Text 1"/>
          <p:cNvSpPr/>
          <p:nvPr/>
        </p:nvSpPr>
        <p:spPr>
          <a:xfrm>
            <a:off x="457200" y="1280160"/>
            <a:ext cx="8229600" cy="4754880"/>
          </a:xfrm>
          <a:prstGeom prst="rect">
            <a:avLst/>
          </a:prstGeom>
          <a:noFill/>
          <a:ln/>
        </p:spPr>
        <p:txBody>
          <a:bodyPr wrap="square" rtlCol="0" anchor="t"/>
          <a:lstStyle/>
          <a:p>
            <a:pPr indent="0" marL="0">
              <a:buNone/>
            </a:pPr>
            <a:r>
              <a:rPr lang="en-US" sz="1400" dirty="0">
                <a:solidFill>
                  <a:srgbClr val="000000"/>
                </a:solidFill>
              </a:rPr>
              <a:t>审批通过后，申请人应在 3 个工作日内完成相关事项的执行；执行过程如需调整，须重新发起审批。完成后须在 9 个工作日内向信息技术部提交执行报告（含凭证、票据、影像资料），由信息技术部审核后归档。归档材料保存期限不少于 5 年，电子档案与纸质档案具有同等效力。</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400" b="1" dirty="0">
                <a:solidFill>
                  <a:srgbClr val="000000"/>
                </a:solidFill>
              </a:rPr>
              <a:t>七、禁止性规定</a:t>
            </a:r>
            <a:endParaRPr lang="en-US" sz="2400" dirty="0"/>
          </a:p>
        </p:txBody>
      </p:sp>
      <p:sp>
        <p:nvSpPr>
          <p:cNvPr id="3" name="Text 1"/>
          <p:cNvSpPr/>
          <p:nvPr/>
        </p:nvSpPr>
        <p:spPr>
          <a:xfrm>
            <a:off x="457200" y="1280160"/>
            <a:ext cx="8229600" cy="4754880"/>
          </a:xfrm>
          <a:prstGeom prst="rect">
            <a:avLst/>
          </a:prstGeom>
          <a:noFill/>
          <a:ln/>
        </p:spPr>
        <p:txBody>
          <a:bodyPr wrap="square" rtlCol="0" anchor="t"/>
          <a:lstStyle/>
          <a:p>
            <a:pPr indent="0" marL="0">
              <a:buNone/>
            </a:pPr>
            <a:r>
              <a:rPr lang="en-US" sz="1400" dirty="0">
                <a:solidFill>
                  <a:srgbClr val="000000"/>
                </a:solidFill>
              </a:rPr>
              <a:t>从事代码仓库权限管理相关活动时，严禁出现以下行为：(1) 拆分金额规避审批权限；(2) 使用虚假发票、阴阳合同或与事实不符的说明材料；(3) 同一事项重复申请；(4) 私自向外部第三方提供制度副本、数据或影像资料；(5) 与外部供应商存在利益关联未主动申报；(6) 其他违反法律法规及公司制度的行为。</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400" b="1" dirty="0">
                <a:solidFill>
                  <a:srgbClr val="000000"/>
                </a:solidFill>
              </a:rPr>
              <a:t>八、违规处理</a:t>
            </a:r>
            <a:endParaRPr lang="en-US" sz="2400" dirty="0"/>
          </a:p>
        </p:txBody>
      </p:sp>
      <p:sp>
        <p:nvSpPr>
          <p:cNvPr id="3" name="Text 1"/>
          <p:cNvSpPr/>
          <p:nvPr/>
        </p:nvSpPr>
        <p:spPr>
          <a:xfrm>
            <a:off x="457200" y="1280160"/>
            <a:ext cx="8229600" cy="4754880"/>
          </a:xfrm>
          <a:prstGeom prst="rect">
            <a:avLst/>
          </a:prstGeom>
          <a:noFill/>
          <a:ln/>
        </p:spPr>
        <p:txBody>
          <a:bodyPr wrap="square" rtlCol="0" anchor="t"/>
          <a:lstStyle/>
          <a:p>
            <a:pPr indent="0" marL="0">
              <a:buNone/>
            </a:pPr>
            <a:r>
              <a:rPr lang="en-US" sz="1400" dirty="0">
                <a:solidFill>
                  <a:srgbClr val="000000"/>
                </a:solidFill>
              </a:rPr>
              <a:t>信息技术部与法务合规部对代码仓库权限管理执行情况开展定期与不定期抽查。违规情节认定与处理如下：</a:t>
            </a:r>
            <a:endParaRPr lang="en-US" sz="1400" dirty="0"/>
          </a:p>
          <a:p>
            <a:pPr indent="0" marL="0">
              <a:buNone/>
            </a:pPr>
            <a:endParaRPr lang="en-US" sz="1400" dirty="0"/>
          </a:p>
          <a:p>
            <a:pPr indent="0" marL="0">
              <a:buNone/>
            </a:pPr>
            <a:r>
              <a:rPr lang="en-US" sz="1400" dirty="0">
                <a:solidFill>
                  <a:srgbClr val="000000"/>
                </a:solidFill>
              </a:rPr>
              <a:t>| 违规等级 | 情形 | 处理 |</a:t>
            </a:r>
            <a:endParaRPr lang="en-US" sz="1400" dirty="0"/>
          </a:p>
          <a:p>
            <a:pPr indent="0" marL="0">
              <a:buNone/>
            </a:pPr>
            <a:r>
              <a:rPr lang="en-US" sz="1400" dirty="0">
                <a:solidFill>
                  <a:srgbClr val="000000"/>
                </a:solidFill>
              </a:rPr>
              <a:t>|---|---|---|</a:t>
            </a:r>
            <a:endParaRPr lang="en-US" sz="1400" dirty="0"/>
          </a:p>
          <a:p>
            <a:pPr indent="0" marL="0">
              <a:buNone/>
            </a:pPr>
            <a:r>
              <a:rPr lang="en-US" sz="1400" dirty="0">
                <a:solidFill>
                  <a:srgbClr val="000000"/>
                </a:solidFill>
              </a:rPr>
              <a:t>| 轻微 | 首次违规、金额 ≤ 1000 元 | 通报批评 + 责令整改 |</a:t>
            </a:r>
            <a:endParaRPr lang="en-US" sz="1400" dirty="0"/>
          </a:p>
          <a:p>
            <a:pPr indent="0" marL="0">
              <a:buNone/>
            </a:pPr>
            <a:r>
              <a:rPr lang="en-US" sz="1400" dirty="0">
                <a:solidFill>
                  <a:srgbClr val="000000"/>
                </a:solidFill>
              </a:rPr>
              <a:t>| 一般 | 12 个月内累计 2 次轻微违规 | 扣减绩效系数 0.1 |</a:t>
            </a:r>
            <a:endParaRPr lang="en-US" sz="1400" dirty="0"/>
          </a:p>
          <a:p>
            <a:pPr indent="0" marL="0">
              <a:buNone/>
            </a:pPr>
            <a:r>
              <a:rPr lang="en-US" sz="1400" dirty="0">
                <a:solidFill>
                  <a:srgbClr val="000000"/>
                </a:solidFill>
              </a:rPr>
              <a:t>| 严重 | 虚假报销 / 伪造凭证 / 金额 &gt; 10000 元 | 扣减当月 2 倍日工资 + 书面警告 |</a:t>
            </a:r>
            <a:endParaRPr lang="en-US" sz="1400" dirty="0"/>
          </a:p>
          <a:p>
            <a:pPr indent="0" marL="0">
              <a:buNone/>
            </a:pPr>
            <a:r>
              <a:rPr lang="en-US" sz="1400" dirty="0">
                <a:solidFill>
                  <a:srgbClr val="000000"/>
                </a:solidFill>
              </a:rPr>
              <a:t>| 重大 | 触犯法律 / 涉及刑事 | 立即解除劳动合同 + 移送司法机关 |</a:t>
            </a:r>
            <a:endParaRPr lang="en-US" sz="1400" dirty="0"/>
          </a:p>
          <a:p>
            <a:pPr indent="0" marL="0">
              <a:buNone/>
            </a:pPr>
            <a:endParaRPr lang="en-US" sz="1400" dirty="0"/>
          </a:p>
          <a:p>
            <a:pPr indent="0" marL="0">
              <a:buNone/>
            </a:pPr>
            <a:r>
              <a:rPr lang="en-US" sz="1400" dirty="0">
                <a:solidFill>
                  <a:srgbClr val="000000"/>
                </a:solidFill>
              </a:rPr>
              <a:t>涉嫌违法犯罪的，依法移送司法机关处理。</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400" b="1" dirty="0">
                <a:solidFill>
                  <a:srgbClr val="000000"/>
                </a:solidFill>
              </a:rPr>
              <a:t>九、附则</a:t>
            </a:r>
            <a:endParaRPr lang="en-US" sz="2400" dirty="0"/>
          </a:p>
        </p:txBody>
      </p:sp>
      <p:sp>
        <p:nvSpPr>
          <p:cNvPr id="3" name="Text 1"/>
          <p:cNvSpPr/>
          <p:nvPr/>
        </p:nvSpPr>
        <p:spPr>
          <a:xfrm>
            <a:off x="457200" y="1280160"/>
            <a:ext cx="8229600" cy="4754880"/>
          </a:xfrm>
          <a:prstGeom prst="rect">
            <a:avLst/>
          </a:prstGeom>
          <a:noFill/>
          <a:ln/>
        </p:spPr>
        <p:txBody>
          <a:bodyPr wrap="square" rtlCol="0" anchor="t"/>
          <a:lstStyle/>
          <a:p>
            <a:pPr indent="0" marL="0">
              <a:buNone/>
            </a:pPr>
            <a:r>
              <a:rPr lang="en-US" sz="1400" dirty="0">
                <a:solidFill>
                  <a:srgbClr val="000000"/>
                </a:solidFill>
              </a:rPr>
              <a:t>本办法由信息技术部负责解释，自颁布之日起执行。公司将根据业务发展与监管要求适时修订，修订后另行公告。</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400" b="1" dirty="0">
                <a:solidFill>
                  <a:srgbClr val="000000"/>
                </a:solidFill>
              </a:rPr>
              <a:t>十、附件清单</a:t>
            </a:r>
            <a:endParaRPr lang="en-US" sz="2400" dirty="0"/>
          </a:p>
        </p:txBody>
      </p:sp>
      <p:sp>
        <p:nvSpPr>
          <p:cNvPr id="3" name="Text 1"/>
          <p:cNvSpPr/>
          <p:nvPr/>
        </p:nvSpPr>
        <p:spPr>
          <a:xfrm>
            <a:off x="457200" y="1280160"/>
            <a:ext cx="8229600" cy="4754880"/>
          </a:xfrm>
          <a:prstGeom prst="rect">
            <a:avLst/>
          </a:prstGeom>
          <a:noFill/>
          <a:ln/>
        </p:spPr>
        <p:txBody>
          <a:bodyPr wrap="square" rtlCol="0" anchor="t"/>
          <a:lstStyle/>
          <a:p>
            <a:pPr indent="0" marL="0">
              <a:buNone/>
            </a:pPr>
            <a:r>
              <a:rPr lang="en-US" sz="1400" dirty="0">
                <a:solidFill>
                  <a:srgbClr val="000000"/>
                </a:solidFill>
              </a:rPr>
              <a:t>本制度相关附件包括但不限于：(1) 附件 1：代码仓库权限管理标准申请表；(2) 附件 2：审批权限一览表；(3) 附件 3：常见问题 FAQ；(4) 附件 4：执行报告模板。附件与正文具有同等效力，附件由信息技术部另行发布并动态维护。</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代码仓库权限管理</dc:title>
  <dc:subject>PptxGenJS Presentation</dc:subject>
  <dc:creator>信息技术部</dc:creator>
  <cp:lastModifiedBy>信息技术部</cp:lastModifiedBy>
  <cp:revision>1</cp:revision>
  <dcterms:created xsi:type="dcterms:W3CDTF">2026-09-10T09:15:09Z</dcterms:created>
  <dcterms:modified xsi:type="dcterms:W3CDTF">2026-09-10T09:15:09Z</dcterms:modified>
</cp:coreProperties>
</file>